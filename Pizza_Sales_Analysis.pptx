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02B5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Sunday</c:v>
                  </c:pt>
                  <c:pt idx="1">
                    <c:v>Monday</c:v>
                  </c:pt>
                  <c:pt idx="2">
                    <c:v>Tuesday</c:v>
                  </c:pt>
                  <c:pt idx="3">
                    <c:v>Wednesday</c:v>
                  </c:pt>
                  <c:pt idx="4">
                    <c:v>Thursday</c:v>
                  </c:pt>
                  <c:pt idx="5">
                    <c:v>Friday</c:v>
                  </c:pt>
                  <c:pt idx="6">
                    <c:v>Saturday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2624</c:v>
                </c:pt>
                <c:pt idx="1">
                  <c:v>2794</c:v>
                </c:pt>
                <c:pt idx="2">
                  <c:v>2973</c:v>
                </c:pt>
                <c:pt idx="3">
                  <c:v>3024</c:v>
                </c:pt>
                <c:pt idx="4">
                  <c:v>3239</c:v>
                </c:pt>
                <c:pt idx="5">
                  <c:v>3538</c:v>
                </c:pt>
                <c:pt idx="6">
                  <c:v>3158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02B5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02B5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cat>
            <c:multiLvlStrRef>
              <c:f>Sheet1!$A$2:$A$16</c:f>
              <c:multiLvlStrCache>
                <c:ptCount val="15"/>
                <c:lvl>
                  <c:pt idx="0">
                    <c:v>9</c:v>
                  </c:pt>
                  <c:pt idx="1">
                    <c:v>10</c:v>
                  </c:pt>
                  <c:pt idx="2">
                    <c:v>11</c:v>
                  </c:pt>
                  <c:pt idx="3">
                    <c:v>12</c:v>
                  </c:pt>
                  <c:pt idx="4">
                    <c:v>13</c:v>
                  </c:pt>
                  <c:pt idx="5">
                    <c:v>14</c:v>
                  </c:pt>
                  <c:pt idx="6">
                    <c:v>15</c:v>
                  </c:pt>
                  <c:pt idx="7">
                    <c:v>16</c:v>
                  </c:pt>
                  <c:pt idx="8">
                    <c:v>17</c:v>
                  </c:pt>
                  <c:pt idx="9">
                    <c:v>18</c:v>
                  </c:pt>
                  <c:pt idx="10">
                    <c:v>19</c:v>
                  </c:pt>
                  <c:pt idx="11">
                    <c:v>20</c:v>
                  </c:pt>
                  <c:pt idx="12">
                    <c:v>21</c:v>
                  </c:pt>
                  <c:pt idx="13">
                    <c:v>22</c:v>
                  </c:pt>
                  <c:pt idx="14">
                    <c:v>23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</c:v>
                </c:pt>
                <c:pt idx="1">
                  <c:v>8</c:v>
                </c:pt>
                <c:pt idx="2">
                  <c:v>1231</c:v>
                </c:pt>
                <c:pt idx="3">
                  <c:v>2520</c:v>
                </c:pt>
                <c:pt idx="4">
                  <c:v>2455</c:v>
                </c:pt>
                <c:pt idx="5">
                  <c:v>1472</c:v>
                </c:pt>
                <c:pt idx="6">
                  <c:v>1468</c:v>
                </c:pt>
                <c:pt idx="7">
                  <c:v>1920</c:v>
                </c:pt>
                <c:pt idx="8">
                  <c:v>2336</c:v>
                </c:pt>
                <c:pt idx="9">
                  <c:v>2399</c:v>
                </c:pt>
                <c:pt idx="10">
                  <c:v>2009</c:v>
                </c:pt>
                <c:pt idx="11">
                  <c:v>1642</c:v>
                </c:pt>
                <c:pt idx="12">
                  <c:v>1198</c:v>
                </c:pt>
                <c:pt idx="13">
                  <c:v>663</c:v>
                </c:pt>
                <c:pt idx="14">
                  <c:v>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202B5C"/>
                    </a:solidFill>
                    <a:latin typeface="Calibri"/>
                  </a:defRPr>
                </a:pPr>
                <a:r>
                  <a:rPr b="0" i="0" u="none" strike="noStrike">
                    <a:solidFill>
                      <a:srgbClr val="202B5C"/>
                    </a:solidFill>
                    <a:latin typeface="Calibri"/>
                  </a:rPr>
                  <a:t>Hour of Day (24h)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02B5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6167"/>
              </a:solidFill>
              <a:effectLst/>
            </c:spPr>
          </c:dPt>
          <c:dPt>
            <c:idx val="1"/>
            <c:bubble3D val="0"/>
            <c:spPr>
              <a:solidFill>
                <a:srgbClr val="2F3C7E"/>
              </a:solidFill>
              <a:effectLst/>
            </c:spPr>
          </c:dPt>
          <c:dPt>
            <c:idx val="2"/>
            <c:bubble3D val="0"/>
            <c:spPr>
              <a:solidFill>
                <a:srgbClr val="F9E795"/>
              </a:solidFill>
              <a:effectLst/>
            </c:spPr>
          </c:dPt>
          <c:dPt>
            <c:idx val="3"/>
            <c:bubble3D val="0"/>
            <c:spPr>
              <a:solidFill>
                <a:srgbClr val="9AA4CF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Classic</c:v>
                </c:pt>
                <c:pt idx="1">
                  <c:v>Supreme</c:v>
                </c:pt>
                <c:pt idx="2">
                  <c:v>Chicken</c:v>
                </c:pt>
                <c:pt idx="3">
                  <c:v>Veggie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26.9</c:v>
                </c:pt>
                <c:pt idx="1">
                  <c:v>25.5</c:v>
                </c:pt>
                <c:pt idx="2">
                  <c:v>24</c:v>
                </c:pt>
                <c:pt idx="3">
                  <c:v>23.7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02B5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 %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02B5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LARGE</c:v>
                  </c:pt>
                  <c:pt idx="1">
                    <c:v>MEDIUM</c:v>
                  </c:pt>
                  <c:pt idx="2">
                    <c:v>REGULAR</c:v>
                  </c:pt>
                  <c:pt idx="3">
                    <c:v>X-LARGE</c:v>
                  </c:pt>
                  <c:pt idx="4">
                    <c:v>XX-LARGE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45.9</c:v>
                </c:pt>
                <c:pt idx="1">
                  <c:v>30.5</c:v>
                </c:pt>
                <c:pt idx="2">
                  <c:v>21.8</c:v>
                </c:pt>
                <c:pt idx="3">
                  <c:v>1.7</c:v>
                </c:pt>
                <c:pt idx="4">
                  <c:v>0.1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02B5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02B5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F9E795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PIZZA SALES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Sales Analysis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520440"/>
            <a:ext cx="4572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Excel with Pivot Tables &amp; Pivot Charts, cross-verified against SQL Server queries.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Day &amp; Time  •  Sales by Category &amp; Size  •  Best &amp; Worst Sellers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This Analysis Was Built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7F7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Sort &amp; Filter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the raw pizza sales dataset — sorted and filtered out duplicates and inconsistencies.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3716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7F7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60020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 KPIs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25603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core metrics: total revenue, total orders, pizzas sold, and average order value.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13716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7F7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49640" y="16002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4964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Pivot Tables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49640" y="25603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Summarized data by day, hour, category, size, and pizza name.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7F7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88620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77240" y="4480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Pivot Charts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8463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Visualized each pivot table to spot trends at a glance.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34840" y="36576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7F7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8862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663440" y="4480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63440" y="48463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KPIs, tables, and charts into one Excel dashboard view.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21040" y="36576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7F7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49640" y="388620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0" name="Text 28"/>
          <p:cNvSpPr/>
          <p:nvPr/>
        </p:nvSpPr>
        <p:spPr>
          <a:xfrm>
            <a:off x="854964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549640" y="4480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SQL Cross-Check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549640" y="48463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 equivalent queries in SQL Server to validate every Excel insight.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Dashboard  |  Excel Pivot Analysis  |  SQL Server Verified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performance across the full sales period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70916" y="20116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F3C7E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0916" y="2514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$817,860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70916" y="3429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1276" y="20116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F3C7E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1276" y="2514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21,350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51276" y="3429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1636" y="20116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F3C7E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1636" y="2514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49,574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31636" y="3429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Pizzas Sold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11996" y="20116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F3C7E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11996" y="2514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$38.31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111996" y="3429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pizza_sales transaction data (48,620 line items) • Verified against SQL Server aggregate queries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Busiest Day of the Week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by day — Pivot Table: Order Day × Sum of Total Orders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73152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82880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FF1E9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0" y="2103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FRIDAY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0" y="2606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busiest day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0" y="31089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02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3,538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229600" y="3749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— 16.6% of weekly volume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458200" y="43434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build-up starts Thursday and peaks Friday, then eases through the weekend.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Dashboard  |  Excel Pivot Analysis  |  SQL Server Verified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Busiest Time of Day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by hour — Pivot Table: Order Hour × Sum of Total Orders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11247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peaks: 12:00–13:00 (lunch) at 2,520 orders and 17:00–19:00 (dinner) topping out near 2,400 orders/hr.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Dashboard  |  Excel Pivot Analysis  |  SQL Server Verified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Sales by Category &amp; Size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revenue — Pivot Table: Sum of Total Price by Category / Size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By Category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87452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508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By Size</a:t>
            </a:r>
            <a:endParaRPr lang="en-US" sz="16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126480" y="187452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Dashboard  |  Excel Pivot Analysis  |  SQL Server Verified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Best &amp; Worst Selling Pizzas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quantity sold — Pivot Table: Pizza Name × Sum of Quantity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FF1E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↑ TOP 5 BEST SELLERS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3042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Deluxe Pizza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17720" y="230428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2,453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09067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90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Barbecue Chicken Pizza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17720" y="30632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2,432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849624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849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38221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Hawaiian Pizza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17720" y="38221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2,422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60857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608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45811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Pepperoni Pizza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17720" y="458114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2,418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536752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367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534009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Thai Chicken Pizza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617720" y="534009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2,371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155448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EFF1F8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↓ BOTTOM 5 WORST SELLERS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92240" y="2331720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40880" y="23042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 Carre Pizza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287000" y="230428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490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92240" y="3090672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3090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40880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Mediterranean Pizza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287000" y="30632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934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92240" y="3849624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7" name="Text 35"/>
          <p:cNvSpPr/>
          <p:nvPr/>
        </p:nvSpPr>
        <p:spPr>
          <a:xfrm>
            <a:off x="6492240" y="3849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040880" y="38221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Calabrese Pizza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287000" y="38221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937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92240" y="4608576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41" name="Text 39"/>
          <p:cNvSpPr/>
          <p:nvPr/>
        </p:nvSpPr>
        <p:spPr>
          <a:xfrm>
            <a:off x="6492240" y="4608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040880" y="45811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Spinach Supreme Pizza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0287000" y="458114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950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492240" y="5367528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45" name="Text 43"/>
          <p:cNvSpPr/>
          <p:nvPr/>
        </p:nvSpPr>
        <p:spPr>
          <a:xfrm>
            <a:off x="6492240" y="5367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040880" y="534009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Soppressata Pizza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0287000" y="534009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961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Dashboard  |  Excel Pivot Analysis  |  SQL Server Verified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0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134416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is the busiest day (3,538 orders); Sunday is the quietest.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212140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peak twice daily: lunch (12–13h) and dinner (17–19h).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718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89864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and Supreme categories lead revenue share, but all four categories are closely matched (24–27% each).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49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36758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pizzas drive 45.9% of revenue — by far the top size.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526280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526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445312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Deluxe Pizza is the overall best seller; The Brie Carre Pizza sells the least and is a candidate for menu review.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303520"/>
            <a:ext cx="310896" cy="31089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303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523036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were cross-verified with equivalent SQL Server queries — no discrepancies found.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Dashboard  |  Excel Pivot Analysis  |  SQL Server Verified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2026-08-02T06:40:19Z</dcterms:created>
  <dcterms:modified xsi:type="dcterms:W3CDTF">2026-08-02T06:40:19Z</dcterms:modified>
</cp:coreProperties>
</file>